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695"/>
  </p:normalViewPr>
  <p:slideViewPr>
    <p:cSldViewPr snapToGrid="0">
      <p:cViewPr>
        <p:scale>
          <a:sx n="241" d="100"/>
          <a:sy n="241" d="100"/>
        </p:scale>
        <p:origin x="-152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89EA2C-A0C6-4DBD-A884-F6602DF0A37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2DA95B-B902-4F8B-8016-8C86BA8F3334}">
      <dgm:prSet/>
      <dgm:spPr/>
      <dgm:t>
        <a:bodyPr/>
        <a:lstStyle/>
        <a:p>
          <a:r>
            <a:rPr lang="en-US"/>
            <a:t>Inheritance =&gt; Service and Model layer</a:t>
          </a:r>
        </a:p>
      </dgm:t>
    </dgm:pt>
    <dgm:pt modelId="{884A53BC-151F-4067-BA67-9A09F0D835FB}" type="parTrans" cxnId="{1613CF9D-890F-49C2-A0C6-1AFC8009AA24}">
      <dgm:prSet/>
      <dgm:spPr/>
      <dgm:t>
        <a:bodyPr/>
        <a:lstStyle/>
        <a:p>
          <a:endParaRPr lang="en-US"/>
        </a:p>
      </dgm:t>
    </dgm:pt>
    <dgm:pt modelId="{D5D67E6B-ED0A-4474-B1F3-7E592A994EA3}" type="sibTrans" cxnId="{1613CF9D-890F-49C2-A0C6-1AFC8009AA24}">
      <dgm:prSet/>
      <dgm:spPr/>
      <dgm:t>
        <a:bodyPr/>
        <a:lstStyle/>
        <a:p>
          <a:endParaRPr lang="en-US"/>
        </a:p>
      </dgm:t>
    </dgm:pt>
    <dgm:pt modelId="{ADEC573B-6606-49C0-BC10-90E9BA3DBF8F}">
      <dgm:prSet/>
      <dgm:spPr/>
      <dgm:t>
        <a:bodyPr/>
        <a:lstStyle/>
        <a:p>
          <a:r>
            <a:rPr lang="en-US" dirty="0"/>
            <a:t>Polymorphism =&gt; Runtime polymorphism</a:t>
          </a:r>
        </a:p>
      </dgm:t>
    </dgm:pt>
    <dgm:pt modelId="{6C34C25D-CFC3-4A42-AB17-A10296013836}" type="parTrans" cxnId="{13039A21-847B-45F1-8254-BB62BB341487}">
      <dgm:prSet/>
      <dgm:spPr/>
      <dgm:t>
        <a:bodyPr/>
        <a:lstStyle/>
        <a:p>
          <a:endParaRPr lang="en-US"/>
        </a:p>
      </dgm:t>
    </dgm:pt>
    <dgm:pt modelId="{94740EDE-E82B-4833-B646-27CBA0E2D43B}" type="sibTrans" cxnId="{13039A21-847B-45F1-8254-BB62BB341487}">
      <dgm:prSet/>
      <dgm:spPr/>
      <dgm:t>
        <a:bodyPr/>
        <a:lstStyle/>
        <a:p>
          <a:endParaRPr lang="en-US"/>
        </a:p>
      </dgm:t>
    </dgm:pt>
    <dgm:pt modelId="{F85BF38B-0B7F-42A8-970C-15125C303FDE}">
      <dgm:prSet/>
      <dgm:spPr/>
      <dgm:t>
        <a:bodyPr/>
        <a:lstStyle/>
        <a:p>
          <a:r>
            <a:rPr lang="en-US"/>
            <a:t>Encapsulation =&gt; Private and protected fields for all classes</a:t>
          </a:r>
        </a:p>
      </dgm:t>
    </dgm:pt>
    <dgm:pt modelId="{35A67A66-A071-4CB9-98ED-ABB324DB6A05}" type="parTrans" cxnId="{60783053-4893-45B8-B4E9-0D11A12B62C4}">
      <dgm:prSet/>
      <dgm:spPr/>
      <dgm:t>
        <a:bodyPr/>
        <a:lstStyle/>
        <a:p>
          <a:endParaRPr lang="en-US"/>
        </a:p>
      </dgm:t>
    </dgm:pt>
    <dgm:pt modelId="{9969E6AA-8CCE-4ACE-BF1E-BB93D4E84954}" type="sibTrans" cxnId="{60783053-4893-45B8-B4E9-0D11A12B62C4}">
      <dgm:prSet/>
      <dgm:spPr/>
      <dgm:t>
        <a:bodyPr/>
        <a:lstStyle/>
        <a:p>
          <a:endParaRPr lang="en-US"/>
        </a:p>
      </dgm:t>
    </dgm:pt>
    <dgm:pt modelId="{69872F59-81E4-4264-A076-39D0C5235DEE}">
      <dgm:prSet/>
      <dgm:spPr/>
      <dgm:t>
        <a:bodyPr/>
        <a:lstStyle/>
        <a:p>
          <a:r>
            <a:rPr lang="en-US"/>
            <a:t>Abstraction =&gt; Abstract classes for common methods</a:t>
          </a:r>
        </a:p>
      </dgm:t>
    </dgm:pt>
    <dgm:pt modelId="{799353ED-D52C-440A-A372-D883B60F153D}" type="parTrans" cxnId="{DEF3BBA8-3FC0-499F-9A56-931FC14E32EF}">
      <dgm:prSet/>
      <dgm:spPr/>
      <dgm:t>
        <a:bodyPr/>
        <a:lstStyle/>
        <a:p>
          <a:endParaRPr lang="en-US"/>
        </a:p>
      </dgm:t>
    </dgm:pt>
    <dgm:pt modelId="{98E23FDC-6F53-4894-98A0-7449105AEE3C}" type="sibTrans" cxnId="{DEF3BBA8-3FC0-499F-9A56-931FC14E32EF}">
      <dgm:prSet/>
      <dgm:spPr/>
      <dgm:t>
        <a:bodyPr/>
        <a:lstStyle/>
        <a:p>
          <a:endParaRPr lang="en-US"/>
        </a:p>
      </dgm:t>
    </dgm:pt>
    <dgm:pt modelId="{812497F0-8092-8942-A97B-C49AC7E76AB8}" type="pres">
      <dgm:prSet presAssocID="{FF89EA2C-A0C6-4DBD-A884-F6602DF0A37E}" presName="linear" presStyleCnt="0">
        <dgm:presLayoutVars>
          <dgm:animLvl val="lvl"/>
          <dgm:resizeHandles val="exact"/>
        </dgm:presLayoutVars>
      </dgm:prSet>
      <dgm:spPr/>
    </dgm:pt>
    <dgm:pt modelId="{0772518A-1759-6A44-A1FE-EB61B1EED155}" type="pres">
      <dgm:prSet presAssocID="{382DA95B-B902-4F8B-8016-8C86BA8F333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15D214-96E4-0A4F-BE85-7DD3DC5E8A7D}" type="pres">
      <dgm:prSet presAssocID="{D5D67E6B-ED0A-4474-B1F3-7E592A994EA3}" presName="spacer" presStyleCnt="0"/>
      <dgm:spPr/>
    </dgm:pt>
    <dgm:pt modelId="{931BFBA3-F794-E14F-A127-693B9557540E}" type="pres">
      <dgm:prSet presAssocID="{ADEC573B-6606-49C0-BC10-90E9BA3DBF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4BAC8E-0DC4-6F45-8258-A1AD2A4CBFBD}" type="pres">
      <dgm:prSet presAssocID="{94740EDE-E82B-4833-B646-27CBA0E2D43B}" presName="spacer" presStyleCnt="0"/>
      <dgm:spPr/>
    </dgm:pt>
    <dgm:pt modelId="{EC10453E-4CE3-FC42-ADB4-4AF8A8A0872A}" type="pres">
      <dgm:prSet presAssocID="{F85BF38B-0B7F-42A8-970C-15125C303FD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71EB57A-0CDA-504F-8B35-CA6D94C41A43}" type="pres">
      <dgm:prSet presAssocID="{9969E6AA-8CCE-4ACE-BF1E-BB93D4E84954}" presName="spacer" presStyleCnt="0"/>
      <dgm:spPr/>
    </dgm:pt>
    <dgm:pt modelId="{49B3C79F-47A3-AE43-820B-6C9ED76C5634}" type="pres">
      <dgm:prSet presAssocID="{69872F59-81E4-4264-A076-39D0C5235DE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566D40F-9683-C340-B7F8-4BB969EE2053}" type="presOf" srcId="{382DA95B-B902-4F8B-8016-8C86BA8F3334}" destId="{0772518A-1759-6A44-A1FE-EB61B1EED155}" srcOrd="0" destOrd="0" presId="urn:microsoft.com/office/officeart/2005/8/layout/vList2"/>
    <dgm:cxn modelId="{13039A21-847B-45F1-8254-BB62BB341487}" srcId="{FF89EA2C-A0C6-4DBD-A884-F6602DF0A37E}" destId="{ADEC573B-6606-49C0-BC10-90E9BA3DBF8F}" srcOrd="1" destOrd="0" parTransId="{6C34C25D-CFC3-4A42-AB17-A10296013836}" sibTransId="{94740EDE-E82B-4833-B646-27CBA0E2D43B}"/>
    <dgm:cxn modelId="{09F7F140-F7AA-E743-A4F8-08DCBF4DF3F1}" type="presOf" srcId="{FF89EA2C-A0C6-4DBD-A884-F6602DF0A37E}" destId="{812497F0-8092-8942-A97B-C49AC7E76AB8}" srcOrd="0" destOrd="0" presId="urn:microsoft.com/office/officeart/2005/8/layout/vList2"/>
    <dgm:cxn modelId="{4CED1448-598D-5849-B268-BADE6F787ED6}" type="presOf" srcId="{69872F59-81E4-4264-A076-39D0C5235DEE}" destId="{49B3C79F-47A3-AE43-820B-6C9ED76C5634}" srcOrd="0" destOrd="0" presId="urn:microsoft.com/office/officeart/2005/8/layout/vList2"/>
    <dgm:cxn modelId="{EA80F34E-228B-6441-88A2-0FD36877E052}" type="presOf" srcId="{ADEC573B-6606-49C0-BC10-90E9BA3DBF8F}" destId="{931BFBA3-F794-E14F-A127-693B9557540E}" srcOrd="0" destOrd="0" presId="urn:microsoft.com/office/officeart/2005/8/layout/vList2"/>
    <dgm:cxn modelId="{60783053-4893-45B8-B4E9-0D11A12B62C4}" srcId="{FF89EA2C-A0C6-4DBD-A884-F6602DF0A37E}" destId="{F85BF38B-0B7F-42A8-970C-15125C303FDE}" srcOrd="2" destOrd="0" parTransId="{35A67A66-A071-4CB9-98ED-ABB324DB6A05}" sibTransId="{9969E6AA-8CCE-4ACE-BF1E-BB93D4E84954}"/>
    <dgm:cxn modelId="{D7F7B960-64F2-B44A-B37A-A051D37DB904}" type="presOf" srcId="{F85BF38B-0B7F-42A8-970C-15125C303FDE}" destId="{EC10453E-4CE3-FC42-ADB4-4AF8A8A0872A}" srcOrd="0" destOrd="0" presId="urn:microsoft.com/office/officeart/2005/8/layout/vList2"/>
    <dgm:cxn modelId="{1613CF9D-890F-49C2-A0C6-1AFC8009AA24}" srcId="{FF89EA2C-A0C6-4DBD-A884-F6602DF0A37E}" destId="{382DA95B-B902-4F8B-8016-8C86BA8F3334}" srcOrd="0" destOrd="0" parTransId="{884A53BC-151F-4067-BA67-9A09F0D835FB}" sibTransId="{D5D67E6B-ED0A-4474-B1F3-7E592A994EA3}"/>
    <dgm:cxn modelId="{DEF3BBA8-3FC0-499F-9A56-931FC14E32EF}" srcId="{FF89EA2C-A0C6-4DBD-A884-F6602DF0A37E}" destId="{69872F59-81E4-4264-A076-39D0C5235DEE}" srcOrd="3" destOrd="0" parTransId="{799353ED-D52C-440A-A372-D883B60F153D}" sibTransId="{98E23FDC-6F53-4894-98A0-7449105AEE3C}"/>
    <dgm:cxn modelId="{5A63AA1E-FB01-EC42-AE6F-28032A5B4A9A}" type="presParOf" srcId="{812497F0-8092-8942-A97B-C49AC7E76AB8}" destId="{0772518A-1759-6A44-A1FE-EB61B1EED155}" srcOrd="0" destOrd="0" presId="urn:microsoft.com/office/officeart/2005/8/layout/vList2"/>
    <dgm:cxn modelId="{096216D4-DFD3-5246-ACC9-E62CC593A223}" type="presParOf" srcId="{812497F0-8092-8942-A97B-C49AC7E76AB8}" destId="{C115D214-96E4-0A4F-BE85-7DD3DC5E8A7D}" srcOrd="1" destOrd="0" presId="urn:microsoft.com/office/officeart/2005/8/layout/vList2"/>
    <dgm:cxn modelId="{E14C344A-40EC-D84A-BA77-0DB2CDDD7E27}" type="presParOf" srcId="{812497F0-8092-8942-A97B-C49AC7E76AB8}" destId="{931BFBA3-F794-E14F-A127-693B9557540E}" srcOrd="2" destOrd="0" presId="urn:microsoft.com/office/officeart/2005/8/layout/vList2"/>
    <dgm:cxn modelId="{4011203C-FE5F-DE4C-8AEE-B93575744B91}" type="presParOf" srcId="{812497F0-8092-8942-A97B-C49AC7E76AB8}" destId="{8B4BAC8E-0DC4-6F45-8258-A1AD2A4CBFBD}" srcOrd="3" destOrd="0" presId="urn:microsoft.com/office/officeart/2005/8/layout/vList2"/>
    <dgm:cxn modelId="{352AE5B9-4C1A-0243-812E-5A8E9E31245B}" type="presParOf" srcId="{812497F0-8092-8942-A97B-C49AC7E76AB8}" destId="{EC10453E-4CE3-FC42-ADB4-4AF8A8A0872A}" srcOrd="4" destOrd="0" presId="urn:microsoft.com/office/officeart/2005/8/layout/vList2"/>
    <dgm:cxn modelId="{B829BE1C-A7F7-5B48-AB43-0A1F612C0748}" type="presParOf" srcId="{812497F0-8092-8942-A97B-C49AC7E76AB8}" destId="{E71EB57A-0CDA-504F-8B35-CA6D94C41A43}" srcOrd="5" destOrd="0" presId="urn:microsoft.com/office/officeart/2005/8/layout/vList2"/>
    <dgm:cxn modelId="{7916CAB0-F0DE-FC40-BE00-49534798377C}" type="presParOf" srcId="{812497F0-8092-8942-A97B-C49AC7E76AB8}" destId="{49B3C79F-47A3-AE43-820B-6C9ED76C563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2518A-1759-6A44-A1FE-EB61B1EED155}">
      <dsp:nvSpPr>
        <dsp:cNvPr id="0" name=""/>
        <dsp:cNvSpPr/>
      </dsp:nvSpPr>
      <dsp:spPr>
        <a:xfrm>
          <a:off x="0" y="501932"/>
          <a:ext cx="5141912" cy="10424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Inheritance =&gt; Service and Model layer</a:t>
          </a:r>
        </a:p>
      </dsp:txBody>
      <dsp:txXfrm>
        <a:off x="50889" y="552821"/>
        <a:ext cx="5040134" cy="940692"/>
      </dsp:txXfrm>
    </dsp:sp>
    <dsp:sp modelId="{931BFBA3-F794-E14F-A127-693B9557540E}">
      <dsp:nvSpPr>
        <dsp:cNvPr id="0" name=""/>
        <dsp:cNvSpPr/>
      </dsp:nvSpPr>
      <dsp:spPr>
        <a:xfrm>
          <a:off x="0" y="1622162"/>
          <a:ext cx="5141912" cy="1042470"/>
        </a:xfrm>
        <a:prstGeom prst="roundRect">
          <a:avLst/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Polymorphism =&gt; Runtime polymorphism</a:t>
          </a:r>
        </a:p>
      </dsp:txBody>
      <dsp:txXfrm>
        <a:off x="50889" y="1673051"/>
        <a:ext cx="5040134" cy="940692"/>
      </dsp:txXfrm>
    </dsp:sp>
    <dsp:sp modelId="{EC10453E-4CE3-FC42-ADB4-4AF8A8A0872A}">
      <dsp:nvSpPr>
        <dsp:cNvPr id="0" name=""/>
        <dsp:cNvSpPr/>
      </dsp:nvSpPr>
      <dsp:spPr>
        <a:xfrm>
          <a:off x="0" y="2742392"/>
          <a:ext cx="5141912" cy="1042470"/>
        </a:xfrm>
        <a:prstGeom prst="roundRect">
          <a:avLst/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Encapsulation =&gt; Private and protected fields for all classes</a:t>
          </a:r>
        </a:p>
      </dsp:txBody>
      <dsp:txXfrm>
        <a:off x="50889" y="2793281"/>
        <a:ext cx="5040134" cy="940692"/>
      </dsp:txXfrm>
    </dsp:sp>
    <dsp:sp modelId="{49B3C79F-47A3-AE43-820B-6C9ED76C5634}">
      <dsp:nvSpPr>
        <dsp:cNvPr id="0" name=""/>
        <dsp:cNvSpPr/>
      </dsp:nvSpPr>
      <dsp:spPr>
        <a:xfrm>
          <a:off x="0" y="3862622"/>
          <a:ext cx="5141912" cy="1042470"/>
        </a:xfrm>
        <a:prstGeom prst="round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Abstraction =&gt; Abstract classes for common methods</a:t>
          </a:r>
        </a:p>
      </dsp:txBody>
      <dsp:txXfrm>
        <a:off x="50889" y="3913511"/>
        <a:ext cx="5040134" cy="9406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12/6/25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microsoft.com/office/2007/relationships/hdphoto" Target="../media/hdphoto3.wdp"/><Relationship Id="rId7" Type="http://schemas.openxmlformats.org/officeDocument/2006/relationships/diagramLayout" Target="../diagrams/layout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microsoft.com/office/2007/relationships/hdphoto" Target="../media/hdphoto2.wdp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9.jpe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38671-5556-846B-5EE8-933A849B3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6100" y="1360493"/>
            <a:ext cx="4972511" cy="3106732"/>
          </a:xfrm>
        </p:spPr>
        <p:txBody>
          <a:bodyPr anchor="b">
            <a:normAutofit/>
          </a:bodyPr>
          <a:lstStyle/>
          <a:p>
            <a:r>
              <a:rPr lang="en-US" sz="7200"/>
              <a:t>Buzy: Business Management App.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36AF8E-A118-1471-CC88-9C943ADC8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6100" y="4687316"/>
            <a:ext cx="4972512" cy="1517088"/>
          </a:xfrm>
        </p:spPr>
        <p:txBody>
          <a:bodyPr>
            <a:normAutofit/>
          </a:bodyPr>
          <a:lstStyle/>
          <a:p>
            <a:r>
              <a:rPr lang="en-US" dirty="0"/>
              <a:t>By: Jacob Lefkowitz, Qing Mi, and Ren Liu</a:t>
            </a:r>
          </a:p>
        </p:txBody>
      </p:sp>
      <p:sp>
        <p:nvSpPr>
          <p:cNvPr id="6153" name="Freeform: Shape 6152">
            <a:extLst>
              <a:ext uri="{FF2B5EF4-FFF2-40B4-BE49-F238E27FC236}">
                <a16:creationId xmlns:a16="http://schemas.microsoft.com/office/drawing/2014/main" id="{14A1598B-1957-47CF-AAF4-F7A36DA0E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3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 descr="Buzy App — Evane Williams">
            <a:extLst>
              <a:ext uri="{FF2B5EF4-FFF2-40B4-BE49-F238E27FC236}">
                <a16:creationId xmlns:a16="http://schemas.microsoft.com/office/drawing/2014/main" id="{F5250E85-5481-D512-C3BC-7F9A92925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6416" y="1974983"/>
            <a:ext cx="4450432" cy="2492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380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The 22 best project management tools for business | CIO">
            <a:extLst>
              <a:ext uri="{FF2B5EF4-FFF2-40B4-BE49-F238E27FC236}">
                <a16:creationId xmlns:a16="http://schemas.microsoft.com/office/drawing/2014/main" id="{FF9653AB-04BB-6835-45A0-A64DBB3F5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0" r="16588" b="-2"/>
          <a:stretch>
            <a:fillRect/>
          </a:stretch>
        </p:blipFill>
        <p:spPr bwMode="auto">
          <a:xfrm>
            <a:off x="2930184" y="-2655"/>
            <a:ext cx="2996169" cy="3358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the art of management &amp; how to ...">
            <a:extLst>
              <a:ext uri="{FF2B5EF4-FFF2-40B4-BE49-F238E27FC236}">
                <a16:creationId xmlns:a16="http://schemas.microsoft.com/office/drawing/2014/main" id="{56F81AF1-4665-049F-BE87-15E3B0305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13" r="-1" b="3162"/>
          <a:stretch>
            <a:fillRect/>
          </a:stretch>
        </p:blipFill>
        <p:spPr bwMode="auto">
          <a:xfrm>
            <a:off x="20" y="3504904"/>
            <a:ext cx="5926333" cy="335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564CA4-59C9-4DAC-950E-61D1FA278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7220" y="0"/>
            <a:ext cx="610477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7631D-A54E-E3A8-9A38-FBD1FDCC5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484632"/>
            <a:ext cx="5299586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000"/>
              <a:t>Buzy: What are we?</a:t>
            </a:r>
          </a:p>
        </p:txBody>
      </p:sp>
      <p:pic>
        <p:nvPicPr>
          <p:cNvPr id="1028" name="Picture 4" descr="MANAGMENT - Milemir">
            <a:extLst>
              <a:ext uri="{FF2B5EF4-FFF2-40B4-BE49-F238E27FC236}">
                <a16:creationId xmlns:a16="http://schemas.microsoft.com/office/drawing/2014/main" id="{DB1D4FA0-D7EC-5325-94C6-535C63A87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19" r="48374" b="2"/>
          <a:stretch>
            <a:fillRect/>
          </a:stretch>
        </p:blipFill>
        <p:spPr bwMode="auto">
          <a:xfrm>
            <a:off x="20" y="10"/>
            <a:ext cx="2769297" cy="3355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17C22-D3EE-7B2B-0968-F8C83F002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2121408"/>
            <a:ext cx="5299585" cy="4050792"/>
          </a:xfrm>
        </p:spPr>
        <p:txBody>
          <a:bodyPr>
            <a:normAutofit/>
          </a:bodyPr>
          <a:lstStyle/>
          <a:p>
            <a:r>
              <a:rPr lang="en-US" sz="1800" dirty="0"/>
              <a:t>Goal: help small business to manage their organization, employee status, and payroll operations in a unified system</a:t>
            </a:r>
          </a:p>
          <a:p>
            <a:r>
              <a:rPr lang="en-US" sz="1800" dirty="0"/>
              <a:t>Easy to use UI with intuitive user flow, allowing for the most non-technical business owner to utilize our application to its fullest</a:t>
            </a:r>
          </a:p>
          <a:p>
            <a:r>
              <a:rPr lang="en-US" sz="1800" dirty="0"/>
              <a:t>Simplify business operations</a:t>
            </a:r>
          </a:p>
          <a:p>
            <a:r>
              <a:rPr lang="en-US" sz="1800" dirty="0"/>
              <a:t>Allow small business owners to focus solely on their customers and their business without needing to worry about logistical operations for people management</a:t>
            </a:r>
          </a:p>
          <a:p>
            <a:endParaRPr lang="en-US" sz="1800" dirty="0"/>
          </a:p>
        </p:txBody>
      </p: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E74380E0-C298-4F18-9189-C236E8B82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979684C7-75DC-42F1-850A-E9C49ECA73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59" name="Oval 1058">
              <a:extLst>
                <a:ext uri="{FF2B5EF4-FFF2-40B4-BE49-F238E27FC236}">
                  <a16:creationId xmlns:a16="http://schemas.microsoft.com/office/drawing/2014/main" id="{4130853F-4D98-4539-8461-9F2028367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7231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9C8D586-1ECD-4981-BED2-97336112C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8860C4-A6D3-A702-DE30-7A37B85C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484632"/>
            <a:ext cx="5299586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000"/>
              <a:t>Who are We? </a:t>
            </a:r>
          </a:p>
        </p:txBody>
      </p:sp>
      <p:pic>
        <p:nvPicPr>
          <p:cNvPr id="5" name="Picture 4" descr="A person standing next to a tree&#10;&#10;AI-generated content may be incorrect.">
            <a:extLst>
              <a:ext uri="{FF2B5EF4-FFF2-40B4-BE49-F238E27FC236}">
                <a16:creationId xmlns:a16="http://schemas.microsoft.com/office/drawing/2014/main" id="{CF5D28FE-0F76-7F87-B06C-B3BEC54BA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7" r="5535" b="-2"/>
          <a:stretch>
            <a:fillRect/>
          </a:stretch>
        </p:blipFill>
        <p:spPr>
          <a:xfrm rot="16200000">
            <a:off x="-395747" y="395748"/>
            <a:ext cx="6857999" cy="60665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E76B0-D0E9-FA00-720E-B846765AE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2121408"/>
            <a:ext cx="5299585" cy="4050792"/>
          </a:xfrm>
        </p:spPr>
        <p:txBody>
          <a:bodyPr>
            <a:normAutofit/>
          </a:bodyPr>
          <a:lstStyle/>
          <a:p>
            <a:r>
              <a:rPr lang="en-US" sz="1800" dirty="0"/>
              <a:t>Jacob Lefkowitz</a:t>
            </a:r>
          </a:p>
          <a:p>
            <a:r>
              <a:rPr lang="en-US" sz="1800" dirty="0"/>
              <a:t>Qing Mi</a:t>
            </a:r>
          </a:p>
          <a:p>
            <a:r>
              <a:rPr lang="en-US" sz="1800" dirty="0"/>
              <a:t>Ren Liu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F001A23-2767-4A31-BD30-56112DE95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6BD30CE-7C6B-4C5B-8206-2A912062D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FA45EC6-AD58-4CAF-846D-46D82B614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52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188DD-16D8-8D70-6615-41F8C2008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7" y="605396"/>
            <a:ext cx="4077067" cy="23774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Tech Stack </a:t>
            </a:r>
            <a:r>
              <a:rPr lang="en-US">
                <a:solidFill>
                  <a:schemeClr val="tx1"/>
                </a:solidFill>
                <a:sym typeface="Wingdings" pitchFamily="2" charset="2"/>
              </a:rPr>
              <a:t>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58" name="Freeform: Shape 2060">
            <a:extLst>
              <a:ext uri="{FF2B5EF4-FFF2-40B4-BE49-F238E27FC236}">
                <a16:creationId xmlns:a16="http://schemas.microsoft.com/office/drawing/2014/main" id="{438E01D9-B763-427F-BB2E-279167AA5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497" y="199629"/>
            <a:ext cx="2072691" cy="2072691"/>
          </a:xfrm>
          <a:custGeom>
            <a:avLst/>
            <a:gdLst>
              <a:gd name="connsiteX0" fmla="*/ 1036346 w 2072691"/>
              <a:gd name="connsiteY0" fmla="*/ 116589 h 2072691"/>
              <a:gd name="connsiteX1" fmla="*/ 1956103 w 2072691"/>
              <a:gd name="connsiteY1" fmla="*/ 1036346 h 2072691"/>
              <a:gd name="connsiteX2" fmla="*/ 1036346 w 2072691"/>
              <a:gd name="connsiteY2" fmla="*/ 1956103 h 2072691"/>
              <a:gd name="connsiteX3" fmla="*/ 116589 w 2072691"/>
              <a:gd name="connsiteY3" fmla="*/ 1036346 h 2072691"/>
              <a:gd name="connsiteX4" fmla="*/ 1036346 w 2072691"/>
              <a:gd name="connsiteY4" fmla="*/ 116589 h 2072691"/>
              <a:gd name="connsiteX5" fmla="*/ 1036346 w 2072691"/>
              <a:gd name="connsiteY5" fmla="*/ 90680 h 2072691"/>
              <a:gd name="connsiteX6" fmla="*/ 90680 w 2072691"/>
              <a:gd name="connsiteY6" fmla="*/ 1036346 h 2072691"/>
              <a:gd name="connsiteX7" fmla="*/ 1036346 w 2072691"/>
              <a:gd name="connsiteY7" fmla="*/ 1982011 h 2072691"/>
              <a:gd name="connsiteX8" fmla="*/ 1982011 w 2072691"/>
              <a:gd name="connsiteY8" fmla="*/ 1036346 h 2072691"/>
              <a:gd name="connsiteX9" fmla="*/ 1036346 w 2072691"/>
              <a:gd name="connsiteY9" fmla="*/ 90680 h 2072691"/>
              <a:gd name="connsiteX10" fmla="*/ 1036346 w 2072691"/>
              <a:gd name="connsiteY10" fmla="*/ 0 h 2072691"/>
              <a:gd name="connsiteX11" fmla="*/ 2072691 w 2072691"/>
              <a:gd name="connsiteY11" fmla="*/ 1036346 h 2072691"/>
              <a:gd name="connsiteX12" fmla="*/ 1036346 w 2072691"/>
              <a:gd name="connsiteY12" fmla="*/ 2072691 h 2072691"/>
              <a:gd name="connsiteX13" fmla="*/ 0 w 2072691"/>
              <a:gd name="connsiteY13" fmla="*/ 1036346 h 2072691"/>
              <a:gd name="connsiteX14" fmla="*/ 1036346 w 2072691"/>
              <a:gd name="connsiteY14" fmla="*/ 0 h 2072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72691" h="2072691">
                <a:moveTo>
                  <a:pt x="1036346" y="116589"/>
                </a:moveTo>
                <a:cubicBezTo>
                  <a:pt x="1544313" y="116589"/>
                  <a:pt x="1956103" y="528378"/>
                  <a:pt x="1956103" y="1036346"/>
                </a:cubicBezTo>
                <a:cubicBezTo>
                  <a:pt x="1956103" y="1544313"/>
                  <a:pt x="1544313" y="1956103"/>
                  <a:pt x="1036346" y="1956103"/>
                </a:cubicBezTo>
                <a:cubicBezTo>
                  <a:pt x="528378" y="1956103"/>
                  <a:pt x="116589" y="1544313"/>
                  <a:pt x="116589" y="1036346"/>
                </a:cubicBezTo>
                <a:cubicBezTo>
                  <a:pt x="116589" y="528378"/>
                  <a:pt x="528378" y="116589"/>
                  <a:pt x="1036346" y="116589"/>
                </a:cubicBezTo>
                <a:close/>
                <a:moveTo>
                  <a:pt x="1036346" y="90680"/>
                </a:moveTo>
                <a:cubicBezTo>
                  <a:pt x="514070" y="90680"/>
                  <a:pt x="90680" y="514069"/>
                  <a:pt x="90680" y="1036346"/>
                </a:cubicBezTo>
                <a:cubicBezTo>
                  <a:pt x="90680" y="1558622"/>
                  <a:pt x="514070" y="1982011"/>
                  <a:pt x="1036346" y="1982011"/>
                </a:cubicBezTo>
                <a:cubicBezTo>
                  <a:pt x="1558622" y="1982011"/>
                  <a:pt x="1982011" y="1558622"/>
                  <a:pt x="1982011" y="1036346"/>
                </a:cubicBezTo>
                <a:cubicBezTo>
                  <a:pt x="1982011" y="514069"/>
                  <a:pt x="1558622" y="90680"/>
                  <a:pt x="1036346" y="90680"/>
                </a:cubicBezTo>
                <a:close/>
                <a:moveTo>
                  <a:pt x="1036346" y="0"/>
                </a:moveTo>
                <a:cubicBezTo>
                  <a:pt x="1608704" y="0"/>
                  <a:pt x="2072691" y="463987"/>
                  <a:pt x="2072691" y="1036346"/>
                </a:cubicBezTo>
                <a:cubicBezTo>
                  <a:pt x="2072691" y="1608704"/>
                  <a:pt x="1608704" y="2072691"/>
                  <a:pt x="1036346" y="2072691"/>
                </a:cubicBezTo>
                <a:cubicBezTo>
                  <a:pt x="463988" y="2072691"/>
                  <a:pt x="0" y="1608704"/>
                  <a:pt x="0" y="1036346"/>
                </a:cubicBezTo>
                <a:cubicBezTo>
                  <a:pt x="0" y="463987"/>
                  <a:pt x="463988" y="0"/>
                  <a:pt x="1036346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052" name="Picture 4" descr="React (software) - Wikipedia">
            <a:extLst>
              <a:ext uri="{FF2B5EF4-FFF2-40B4-BE49-F238E27FC236}">
                <a16:creationId xmlns:a16="http://schemas.microsoft.com/office/drawing/2014/main" id="{7BDEBABC-C0AF-1CB6-713D-57E453F1C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47367" y="678499"/>
            <a:ext cx="1158828" cy="105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6A894-58F8-35BA-919B-79F000ACD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3099816"/>
            <a:ext cx="4077066" cy="3072384"/>
          </a:xfrm>
        </p:spPr>
        <p:txBody>
          <a:bodyPr>
            <a:normAutofit/>
          </a:bodyPr>
          <a:lstStyle/>
          <a:p>
            <a:r>
              <a:rPr lang="en-US"/>
              <a:t>Backend: Springboot</a:t>
            </a:r>
          </a:p>
          <a:p>
            <a:r>
              <a:rPr lang="en-US"/>
              <a:t>Frontend: TS w/React and Tailwind CSS</a:t>
            </a:r>
          </a:p>
          <a:p>
            <a:r>
              <a:rPr lang="en-US"/>
              <a:t>Testing Framework:  jUnit and Mockito</a:t>
            </a:r>
          </a:p>
          <a:p>
            <a:r>
              <a:rPr lang="en-US"/>
              <a:t>Database: MySQL</a:t>
            </a:r>
            <a:endParaRPr lang="en-US" dirty="0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87817A2C-442E-45AB-8074-E9C0FF840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5676" y="0"/>
            <a:ext cx="4096324" cy="3511487"/>
          </a:xfrm>
          <a:custGeom>
            <a:avLst/>
            <a:gdLst>
              <a:gd name="connsiteX0" fmla="*/ 587798 w 4096324"/>
              <a:gd name="connsiteY0" fmla="*/ 0 h 3511487"/>
              <a:gd name="connsiteX1" fmla="*/ 4096324 w 4096324"/>
              <a:gd name="connsiteY1" fmla="*/ 0 h 3511487"/>
              <a:gd name="connsiteX2" fmla="*/ 4096324 w 4096324"/>
              <a:gd name="connsiteY2" fmla="*/ 2389464 h 3511487"/>
              <a:gd name="connsiteX3" fmla="*/ 4037670 w 4096324"/>
              <a:gd name="connsiteY3" fmla="*/ 2467901 h 3511487"/>
              <a:gd name="connsiteX4" fmla="*/ 2396474 w 4096324"/>
              <a:gd name="connsiteY4" fmla="*/ 3241884 h 3511487"/>
              <a:gd name="connsiteX5" fmla="*/ 269603 w 4096324"/>
              <a:gd name="connsiteY5" fmla="*/ 1115014 h 3511487"/>
              <a:gd name="connsiteX6" fmla="*/ 526305 w 4096324"/>
              <a:gd name="connsiteY6" fmla="*/ 101221 h 3511487"/>
              <a:gd name="connsiteX7" fmla="*/ 276096 w 4096324"/>
              <a:gd name="connsiteY7" fmla="*/ 0 h 3511487"/>
              <a:gd name="connsiteX8" fmla="*/ 517769 w 4096324"/>
              <a:gd name="connsiteY8" fmla="*/ 0 h 3511487"/>
              <a:gd name="connsiteX9" fmla="*/ 473625 w 4096324"/>
              <a:gd name="connsiteY9" fmla="*/ 72664 h 3511487"/>
              <a:gd name="connsiteX10" fmla="*/ 209692 w 4096324"/>
              <a:gd name="connsiteY10" fmla="*/ 1115014 h 3511487"/>
              <a:gd name="connsiteX11" fmla="*/ 2396474 w 4096324"/>
              <a:gd name="connsiteY11" fmla="*/ 3301796 h 3511487"/>
              <a:gd name="connsiteX12" fmla="*/ 4083901 w 4096324"/>
              <a:gd name="connsiteY12" fmla="*/ 2506010 h 3511487"/>
              <a:gd name="connsiteX13" fmla="*/ 4096324 w 4096324"/>
              <a:gd name="connsiteY13" fmla="*/ 2489397 h 3511487"/>
              <a:gd name="connsiteX14" fmla="*/ 4096324 w 4096324"/>
              <a:gd name="connsiteY14" fmla="*/ 2803759 h 3511487"/>
              <a:gd name="connsiteX15" fmla="*/ 4091036 w 4096324"/>
              <a:gd name="connsiteY15" fmla="*/ 2809577 h 3511487"/>
              <a:gd name="connsiteX16" fmla="*/ 2396474 w 4096324"/>
              <a:gd name="connsiteY16" fmla="*/ 3511487 h 3511487"/>
              <a:gd name="connsiteX17" fmla="*/ 0 w 4096324"/>
              <a:gd name="connsiteY17" fmla="*/ 1115014 h 3511487"/>
              <a:gd name="connsiteX18" fmla="*/ 188327 w 4096324"/>
              <a:gd name="connsiteY18" fmla="*/ 182198 h 3511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096324" h="3511487">
                <a:moveTo>
                  <a:pt x="587798" y="0"/>
                </a:moveTo>
                <a:lnTo>
                  <a:pt x="4096324" y="0"/>
                </a:lnTo>
                <a:lnTo>
                  <a:pt x="4096324" y="2389464"/>
                </a:lnTo>
                <a:lnTo>
                  <a:pt x="4037670" y="2467901"/>
                </a:lnTo>
                <a:cubicBezTo>
                  <a:pt x="3647571" y="2940592"/>
                  <a:pt x="3057207" y="3241884"/>
                  <a:pt x="2396474" y="3241884"/>
                </a:cubicBezTo>
                <a:cubicBezTo>
                  <a:pt x="1221836" y="3241884"/>
                  <a:pt x="269603" y="2289651"/>
                  <a:pt x="269603" y="1115014"/>
                </a:cubicBezTo>
                <a:cubicBezTo>
                  <a:pt x="269603" y="747940"/>
                  <a:pt x="362595" y="402585"/>
                  <a:pt x="526305" y="101221"/>
                </a:cubicBezTo>
                <a:close/>
                <a:moveTo>
                  <a:pt x="276096" y="0"/>
                </a:moveTo>
                <a:lnTo>
                  <a:pt x="517769" y="0"/>
                </a:lnTo>
                <a:lnTo>
                  <a:pt x="473625" y="72664"/>
                </a:lnTo>
                <a:cubicBezTo>
                  <a:pt x="305303" y="382516"/>
                  <a:pt x="209692" y="737600"/>
                  <a:pt x="209692" y="1115014"/>
                </a:cubicBezTo>
                <a:cubicBezTo>
                  <a:pt x="209692" y="2322740"/>
                  <a:pt x="1188748" y="3301796"/>
                  <a:pt x="2396474" y="3301796"/>
                </a:cubicBezTo>
                <a:cubicBezTo>
                  <a:pt x="3075820" y="3301796"/>
                  <a:pt x="3682813" y="2992016"/>
                  <a:pt x="4083901" y="2506010"/>
                </a:cubicBezTo>
                <a:lnTo>
                  <a:pt x="4096324" y="2489397"/>
                </a:lnTo>
                <a:lnTo>
                  <a:pt x="4096324" y="2803759"/>
                </a:lnTo>
                <a:lnTo>
                  <a:pt x="4091036" y="2809577"/>
                </a:lnTo>
                <a:cubicBezTo>
                  <a:pt x="3657360" y="3243253"/>
                  <a:pt x="3058242" y="3511487"/>
                  <a:pt x="2396474" y="3511487"/>
                </a:cubicBezTo>
                <a:cubicBezTo>
                  <a:pt x="1072937" y="3511487"/>
                  <a:pt x="0" y="2438550"/>
                  <a:pt x="0" y="1115014"/>
                </a:cubicBezTo>
                <a:cubicBezTo>
                  <a:pt x="0" y="784130"/>
                  <a:pt x="67059" y="468908"/>
                  <a:pt x="188327" y="18219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6" name="Picture 8" descr="Tailwind CSS: How To... - DEV Community">
            <a:extLst>
              <a:ext uri="{FF2B5EF4-FFF2-40B4-BE49-F238E27FC236}">
                <a16:creationId xmlns:a16="http://schemas.microsoft.com/office/drawing/2014/main" id="{B9E67B5C-0BA2-E755-8B0F-CF0A5DC28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91749" y="838651"/>
            <a:ext cx="2737456" cy="114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Freeform: Shape 2064">
            <a:extLst>
              <a:ext uri="{FF2B5EF4-FFF2-40B4-BE49-F238E27FC236}">
                <a16:creationId xmlns:a16="http://schemas.microsoft.com/office/drawing/2014/main" id="{A31847AF-FADA-41FD-8347-0A5AF3106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5725" y="2528773"/>
            <a:ext cx="3118638" cy="3118638"/>
          </a:xfrm>
          <a:custGeom>
            <a:avLst/>
            <a:gdLst>
              <a:gd name="connsiteX0" fmla="*/ 1559319 w 3118638"/>
              <a:gd name="connsiteY0" fmla="*/ 175423 h 3118638"/>
              <a:gd name="connsiteX1" fmla="*/ 2943215 w 3118638"/>
              <a:gd name="connsiteY1" fmla="*/ 1559319 h 3118638"/>
              <a:gd name="connsiteX2" fmla="*/ 1559319 w 3118638"/>
              <a:gd name="connsiteY2" fmla="*/ 2943215 h 3118638"/>
              <a:gd name="connsiteX3" fmla="*/ 175423 w 3118638"/>
              <a:gd name="connsiteY3" fmla="*/ 1559319 h 3118638"/>
              <a:gd name="connsiteX4" fmla="*/ 1559319 w 3118638"/>
              <a:gd name="connsiteY4" fmla="*/ 175423 h 3118638"/>
              <a:gd name="connsiteX5" fmla="*/ 1559319 w 3118638"/>
              <a:gd name="connsiteY5" fmla="*/ 136440 h 3118638"/>
              <a:gd name="connsiteX6" fmla="*/ 136441 w 3118638"/>
              <a:gd name="connsiteY6" fmla="*/ 1559319 h 3118638"/>
              <a:gd name="connsiteX7" fmla="*/ 1559319 w 3118638"/>
              <a:gd name="connsiteY7" fmla="*/ 2982198 h 3118638"/>
              <a:gd name="connsiteX8" fmla="*/ 2982198 w 3118638"/>
              <a:gd name="connsiteY8" fmla="*/ 1559319 h 3118638"/>
              <a:gd name="connsiteX9" fmla="*/ 1559319 w 3118638"/>
              <a:gd name="connsiteY9" fmla="*/ 136440 h 3118638"/>
              <a:gd name="connsiteX10" fmla="*/ 1559319 w 3118638"/>
              <a:gd name="connsiteY10" fmla="*/ 0 h 3118638"/>
              <a:gd name="connsiteX11" fmla="*/ 3118638 w 3118638"/>
              <a:gd name="connsiteY11" fmla="*/ 1559319 h 3118638"/>
              <a:gd name="connsiteX12" fmla="*/ 1559319 w 3118638"/>
              <a:gd name="connsiteY12" fmla="*/ 3118638 h 3118638"/>
              <a:gd name="connsiteX13" fmla="*/ 0 w 3118638"/>
              <a:gd name="connsiteY13" fmla="*/ 1559319 h 3118638"/>
              <a:gd name="connsiteX14" fmla="*/ 1559319 w 3118638"/>
              <a:gd name="connsiteY14" fmla="*/ 0 h 3118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18638" h="3118638">
                <a:moveTo>
                  <a:pt x="1559319" y="175423"/>
                </a:moveTo>
                <a:cubicBezTo>
                  <a:pt x="2323623" y="175423"/>
                  <a:pt x="2943215" y="795015"/>
                  <a:pt x="2943215" y="1559319"/>
                </a:cubicBezTo>
                <a:cubicBezTo>
                  <a:pt x="2943215" y="2323623"/>
                  <a:pt x="2323623" y="2943215"/>
                  <a:pt x="1559319" y="2943215"/>
                </a:cubicBezTo>
                <a:cubicBezTo>
                  <a:pt x="795015" y="2943215"/>
                  <a:pt x="175423" y="2323623"/>
                  <a:pt x="175423" y="1559319"/>
                </a:cubicBezTo>
                <a:cubicBezTo>
                  <a:pt x="175423" y="795015"/>
                  <a:pt x="795015" y="175423"/>
                  <a:pt x="1559319" y="175423"/>
                </a:cubicBezTo>
                <a:close/>
                <a:moveTo>
                  <a:pt x="1559319" y="136440"/>
                </a:moveTo>
                <a:cubicBezTo>
                  <a:pt x="773486" y="136440"/>
                  <a:pt x="136441" y="773486"/>
                  <a:pt x="136441" y="1559319"/>
                </a:cubicBezTo>
                <a:cubicBezTo>
                  <a:pt x="136441" y="2345154"/>
                  <a:pt x="773486" y="2982198"/>
                  <a:pt x="1559319" y="2982198"/>
                </a:cubicBezTo>
                <a:cubicBezTo>
                  <a:pt x="2345154" y="2982198"/>
                  <a:pt x="2982198" y="2345154"/>
                  <a:pt x="2982198" y="1559319"/>
                </a:cubicBezTo>
                <a:cubicBezTo>
                  <a:pt x="2982198" y="773486"/>
                  <a:pt x="2345154" y="136440"/>
                  <a:pt x="1559319" y="136440"/>
                </a:cubicBezTo>
                <a:close/>
                <a:moveTo>
                  <a:pt x="1559319" y="0"/>
                </a:moveTo>
                <a:cubicBezTo>
                  <a:pt x="2420508" y="0"/>
                  <a:pt x="3118638" y="698131"/>
                  <a:pt x="3118638" y="1559319"/>
                </a:cubicBezTo>
                <a:cubicBezTo>
                  <a:pt x="3118638" y="2420508"/>
                  <a:pt x="2420508" y="3118638"/>
                  <a:pt x="1559319" y="3118638"/>
                </a:cubicBezTo>
                <a:cubicBezTo>
                  <a:pt x="698131" y="3118638"/>
                  <a:pt x="0" y="2420508"/>
                  <a:pt x="0" y="1559319"/>
                </a:cubicBezTo>
                <a:cubicBezTo>
                  <a:pt x="0" y="698131"/>
                  <a:pt x="698131" y="0"/>
                  <a:pt x="1559319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0" name="Picture 2" descr="Spring Boot - Wikipedia">
            <a:extLst>
              <a:ext uri="{FF2B5EF4-FFF2-40B4-BE49-F238E27FC236}">
                <a16:creationId xmlns:a16="http://schemas.microsoft.com/office/drawing/2014/main" id="{50ECD7D8-D7EC-288E-3AAA-EFA2E25A8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95717" y="3283759"/>
            <a:ext cx="1608666" cy="160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0" name="Group 2059">
            <a:extLst>
              <a:ext uri="{FF2B5EF4-FFF2-40B4-BE49-F238E27FC236}">
                <a16:creationId xmlns:a16="http://schemas.microsoft.com/office/drawing/2014/main" id="{8C3799FC-B9F3-483C-8BB1-B6745402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35493" y="6229681"/>
            <a:ext cx="457200" cy="457200"/>
            <a:chOff x="11361456" y="6195813"/>
            <a:chExt cx="548640" cy="548640"/>
          </a:xfrm>
        </p:grpSpPr>
        <p:sp>
          <p:nvSpPr>
            <p:cNvPr id="2068" name="Oval 2067">
              <a:extLst>
                <a:ext uri="{FF2B5EF4-FFF2-40B4-BE49-F238E27FC236}">
                  <a16:creationId xmlns:a16="http://schemas.microsoft.com/office/drawing/2014/main" id="{A69AD0B6-DB21-422F-AE46-79137907C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062" name="Oval 2061">
              <a:extLst>
                <a:ext uri="{FF2B5EF4-FFF2-40B4-BE49-F238E27FC236}">
                  <a16:creationId xmlns:a16="http://schemas.microsoft.com/office/drawing/2014/main" id="{511E7789-3D37-48F1-AED4-B4D26DECE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71" name="Freeform: Shape 2070">
            <a:extLst>
              <a:ext uri="{FF2B5EF4-FFF2-40B4-BE49-F238E27FC236}">
                <a16:creationId xmlns:a16="http://schemas.microsoft.com/office/drawing/2014/main" id="{4FB259F8-8256-44FF-8B52-835A8A3E3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17048" y="3872875"/>
            <a:ext cx="3374952" cy="2985125"/>
          </a:xfrm>
          <a:custGeom>
            <a:avLst/>
            <a:gdLst>
              <a:gd name="connsiteX0" fmla="*/ 2058951 w 3374952"/>
              <a:gd name="connsiteY0" fmla="*/ 231632 h 2985125"/>
              <a:gd name="connsiteX1" fmla="*/ 3351060 w 3374952"/>
              <a:gd name="connsiteY1" fmla="*/ 766842 h 2985125"/>
              <a:gd name="connsiteX2" fmla="*/ 3374952 w 3374952"/>
              <a:gd name="connsiteY2" fmla="*/ 793129 h 2985125"/>
              <a:gd name="connsiteX3" fmla="*/ 3374952 w 3374952"/>
              <a:gd name="connsiteY3" fmla="*/ 2985125 h 2985125"/>
              <a:gd name="connsiteX4" fmla="*/ 485693 w 3374952"/>
              <a:gd name="connsiteY4" fmla="*/ 2985125 h 2985125"/>
              <a:gd name="connsiteX5" fmla="*/ 452180 w 3374952"/>
              <a:gd name="connsiteY5" fmla="*/ 2929960 h 2985125"/>
              <a:gd name="connsiteX6" fmla="*/ 231632 w 3374952"/>
              <a:gd name="connsiteY6" fmla="*/ 2058951 h 2985125"/>
              <a:gd name="connsiteX7" fmla="*/ 2058951 w 3374952"/>
              <a:gd name="connsiteY7" fmla="*/ 231632 h 2985125"/>
              <a:gd name="connsiteX8" fmla="*/ 2058951 w 3374952"/>
              <a:gd name="connsiteY8" fmla="*/ 0 h 2985125"/>
              <a:gd name="connsiteX9" fmla="*/ 3368635 w 3374952"/>
              <a:gd name="connsiteY9" fmla="*/ 470164 h 2985125"/>
              <a:gd name="connsiteX10" fmla="*/ 3374952 w 3374952"/>
              <a:gd name="connsiteY10" fmla="*/ 475905 h 2985125"/>
              <a:gd name="connsiteX11" fmla="*/ 3374952 w 3374952"/>
              <a:gd name="connsiteY11" fmla="*/ 719078 h 2985125"/>
              <a:gd name="connsiteX12" fmla="*/ 3254038 w 3374952"/>
              <a:gd name="connsiteY12" fmla="*/ 609184 h 2985125"/>
              <a:gd name="connsiteX13" fmla="*/ 2058951 w 3374952"/>
              <a:gd name="connsiteY13" fmla="*/ 180158 h 2985125"/>
              <a:gd name="connsiteX14" fmla="*/ 180158 w 3374952"/>
              <a:gd name="connsiteY14" fmla="*/ 2058951 h 2985125"/>
              <a:gd name="connsiteX15" fmla="*/ 406918 w 3374952"/>
              <a:gd name="connsiteY15" fmla="*/ 2954496 h 2985125"/>
              <a:gd name="connsiteX16" fmla="*/ 425526 w 3374952"/>
              <a:gd name="connsiteY16" fmla="*/ 2985125 h 2985125"/>
              <a:gd name="connsiteX17" fmla="*/ 221891 w 3374952"/>
              <a:gd name="connsiteY17" fmla="*/ 2985125 h 2985125"/>
              <a:gd name="connsiteX18" fmla="*/ 161803 w 3374952"/>
              <a:gd name="connsiteY18" fmla="*/ 2860388 h 2985125"/>
              <a:gd name="connsiteX19" fmla="*/ 0 w 3374952"/>
              <a:gd name="connsiteY19" fmla="*/ 2058951 h 2985125"/>
              <a:gd name="connsiteX20" fmla="*/ 2058951 w 3374952"/>
              <a:gd name="connsiteY20" fmla="*/ 0 h 298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374952" h="2985125">
                <a:moveTo>
                  <a:pt x="2058951" y="231632"/>
                </a:moveTo>
                <a:cubicBezTo>
                  <a:pt x="2563551" y="231632"/>
                  <a:pt x="3020381" y="436162"/>
                  <a:pt x="3351060" y="766842"/>
                </a:cubicBezTo>
                <a:lnTo>
                  <a:pt x="3374952" y="793129"/>
                </a:lnTo>
                <a:lnTo>
                  <a:pt x="3374952" y="2985125"/>
                </a:lnTo>
                <a:lnTo>
                  <a:pt x="485693" y="2985125"/>
                </a:lnTo>
                <a:lnTo>
                  <a:pt x="452180" y="2929960"/>
                </a:lnTo>
                <a:cubicBezTo>
                  <a:pt x="311527" y="2671041"/>
                  <a:pt x="231632" y="2374326"/>
                  <a:pt x="231632" y="2058951"/>
                </a:cubicBezTo>
                <a:cubicBezTo>
                  <a:pt x="231632" y="1049751"/>
                  <a:pt x="1049751" y="231632"/>
                  <a:pt x="2058951" y="231632"/>
                </a:cubicBezTo>
                <a:close/>
                <a:moveTo>
                  <a:pt x="2058951" y="0"/>
                </a:moveTo>
                <a:cubicBezTo>
                  <a:pt x="2556445" y="0"/>
                  <a:pt x="3012727" y="176443"/>
                  <a:pt x="3368635" y="470164"/>
                </a:cubicBezTo>
                <a:lnTo>
                  <a:pt x="3374952" y="475905"/>
                </a:lnTo>
                <a:lnTo>
                  <a:pt x="3374952" y="719078"/>
                </a:lnTo>
                <a:lnTo>
                  <a:pt x="3254038" y="609184"/>
                </a:lnTo>
                <a:cubicBezTo>
                  <a:pt x="2929272" y="341163"/>
                  <a:pt x="2512914" y="180158"/>
                  <a:pt x="2058951" y="180158"/>
                </a:cubicBezTo>
                <a:cubicBezTo>
                  <a:pt x="1021323" y="180158"/>
                  <a:pt x="180158" y="1021323"/>
                  <a:pt x="180158" y="2058951"/>
                </a:cubicBezTo>
                <a:cubicBezTo>
                  <a:pt x="180158" y="2383210"/>
                  <a:pt x="262303" y="2688283"/>
                  <a:pt x="406918" y="2954496"/>
                </a:cubicBezTo>
                <a:lnTo>
                  <a:pt x="425526" y="2985125"/>
                </a:lnTo>
                <a:lnTo>
                  <a:pt x="221891" y="2985125"/>
                </a:lnTo>
                <a:lnTo>
                  <a:pt x="161803" y="2860388"/>
                </a:lnTo>
                <a:cubicBezTo>
                  <a:pt x="57614" y="2614059"/>
                  <a:pt x="0" y="2343233"/>
                  <a:pt x="0" y="2058951"/>
                </a:cubicBezTo>
                <a:cubicBezTo>
                  <a:pt x="0" y="921823"/>
                  <a:pt x="921823" y="0"/>
                  <a:pt x="2058951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4" name="Picture 6" descr="The Importance of MySQL Database ...">
            <a:extLst>
              <a:ext uri="{FF2B5EF4-FFF2-40B4-BE49-F238E27FC236}">
                <a16:creationId xmlns:a16="http://schemas.microsoft.com/office/drawing/2014/main" id="{EC7AC53B-1631-1636-B1B2-B12D67E61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49393" y="5034357"/>
            <a:ext cx="2056509" cy="1151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872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AAE126-C1BE-78F0-C9C8-B2B77BF8A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>
                <a:solidFill>
                  <a:srgbClr val="FFFFFF"/>
                </a:solidFill>
              </a:rPr>
              <a:t>Applied OOD Conecpts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CE943898-4756-4C7A-EDC3-DAFCD4AB9B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207561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83626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7CABB-04EF-DA84-2373-550AA06A4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484632"/>
            <a:ext cx="3677264" cy="1609344"/>
          </a:xfrm>
        </p:spPr>
        <p:txBody>
          <a:bodyPr>
            <a:normAutofit/>
          </a:bodyPr>
          <a:lstStyle/>
          <a:p>
            <a:r>
              <a:rPr lang="en-US" sz="3600" dirty="0"/>
              <a:t>Design Patterns</a:t>
            </a:r>
          </a:p>
        </p:txBody>
      </p:sp>
      <p:pic>
        <p:nvPicPr>
          <p:cNvPr id="5" name="Content Placeholder 4" descr="A computer and tools icons&#10;&#10;AI-generated content may be incorrect.">
            <a:extLst>
              <a:ext uri="{FF2B5EF4-FFF2-40B4-BE49-F238E27FC236}">
                <a16:creationId xmlns:a16="http://schemas.microsoft.com/office/drawing/2014/main" id="{508EB430-2B6C-2F56-5FC7-EB2F08F7A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07" r="11799" b="1"/>
          <a:stretch>
            <a:fillRect/>
          </a:stretch>
        </p:blipFill>
        <p:spPr>
          <a:xfrm>
            <a:off x="1" y="10"/>
            <a:ext cx="7546216" cy="685799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841A5E-816C-4FBC-857A-3367CA89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5" y="2121408"/>
            <a:ext cx="3677263" cy="4092579"/>
          </a:xfrm>
        </p:spPr>
        <p:txBody>
          <a:bodyPr>
            <a:normAutofit fontScale="77500" lnSpcReduction="20000"/>
          </a:bodyPr>
          <a:lstStyle/>
          <a:p>
            <a:r>
              <a:rPr lang="en-US" sz="1600" dirty="0"/>
              <a:t>Singleton</a:t>
            </a:r>
          </a:p>
          <a:p>
            <a:pPr lvl="1"/>
            <a:r>
              <a:rPr lang="en-US" sz="1400" dirty="0"/>
              <a:t>Enums in Java are by default Singletons!</a:t>
            </a:r>
          </a:p>
          <a:p>
            <a:r>
              <a:rPr lang="en-US" sz="1400" dirty="0"/>
              <a:t>Builder</a:t>
            </a:r>
          </a:p>
          <a:p>
            <a:pPr lvl="1"/>
            <a:r>
              <a:rPr lang="en-US" sz="1200" dirty="0"/>
              <a:t>Most if not all Data Type Objects (DTOs) follow the Builder pattern</a:t>
            </a:r>
          </a:p>
          <a:p>
            <a:r>
              <a:rPr lang="en-US" sz="1400" dirty="0"/>
              <a:t>Factory</a:t>
            </a:r>
          </a:p>
          <a:p>
            <a:pPr lvl="1"/>
            <a:r>
              <a:rPr lang="en-US" sz="1200" dirty="0"/>
              <a:t>We have factory classes for model and Data Type Objects</a:t>
            </a:r>
          </a:p>
          <a:p>
            <a:r>
              <a:rPr lang="en-US" sz="1400" dirty="0"/>
              <a:t>Strategy</a:t>
            </a:r>
          </a:p>
          <a:p>
            <a:pPr lvl="1"/>
            <a:r>
              <a:rPr lang="en-US" sz="1200" dirty="0"/>
              <a:t>Taxation, payroll, and bonuses all follow the strategy pattern to promote runtime polymorphism</a:t>
            </a:r>
          </a:p>
          <a:p>
            <a:r>
              <a:rPr lang="en-US" sz="1400" dirty="0"/>
              <a:t>MVC Architecture (not a design pattern, but still used)</a:t>
            </a:r>
          </a:p>
          <a:p>
            <a:pPr lvl="1"/>
            <a:r>
              <a:rPr lang="en-US" sz="1200" dirty="0"/>
              <a:t>Spring-boot inherently follows MVC arch. and our program is designed as such</a:t>
            </a:r>
          </a:p>
          <a:p>
            <a:pPr lvl="1"/>
            <a:r>
              <a:rPr lang="en-US" sz="1200" dirty="0"/>
              <a:t>Controllers </a:t>
            </a:r>
            <a:r>
              <a:rPr lang="en-US" sz="1200" dirty="0">
                <a:sym typeface="Wingdings" pitchFamily="2" charset="2"/>
              </a:rPr>
              <a:t> Service  Repository</a:t>
            </a:r>
          </a:p>
          <a:p>
            <a:pPr lvl="2"/>
            <a:r>
              <a:rPr lang="en-US" sz="1000" dirty="0">
                <a:sym typeface="Wingdings" pitchFamily="2" charset="2"/>
              </a:rPr>
              <a:t>Models are the low-level data contained within a Repository and thus are not exactly part of the data flow</a:t>
            </a:r>
          </a:p>
          <a:p>
            <a:r>
              <a:rPr lang="en-US" sz="1400" dirty="0">
                <a:sym typeface="Wingdings" pitchFamily="2" charset="2"/>
              </a:rPr>
              <a:t>Streams (also not a design pattern, but still used)</a:t>
            </a:r>
          </a:p>
          <a:p>
            <a:pPr lvl="1"/>
            <a:r>
              <a:rPr lang="en-US" sz="1200" dirty="0">
                <a:sym typeface="Wingdings" pitchFamily="2" charset="2"/>
              </a:rPr>
              <a:t>Anywhere possible when handling data, streams are used to condense the parsing logic</a:t>
            </a:r>
          </a:p>
          <a:p>
            <a:pPr lvl="1"/>
            <a:r>
              <a:rPr lang="en-US" sz="1200" dirty="0">
                <a:sym typeface="Wingdings" pitchFamily="2" charset="2"/>
              </a:rPr>
              <a:t>This is especially true in Controllers</a:t>
            </a:r>
          </a:p>
        </p:txBody>
      </p:sp>
    </p:spTree>
    <p:extLst>
      <p:ext uri="{BB962C8B-B14F-4D97-AF65-F5344CB8AC3E}">
        <p14:creationId xmlns:p14="http://schemas.microsoft.com/office/powerpoint/2010/main" val="3094303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7049A7D3-684C-4C59-A4B6-7B308A6A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7B1087B-C592-40E7-B532-60B453A2F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4AE7447-E8F8-4A0F-9E3D-94842BFF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981F80-69EE-4E2B-82A8-47FDFD772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6CE0473-0B07-47EE-A016-EBD87F2C8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DD0D1E4-DFCA-4DF0-9D37-571A5F529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FF0965A7-524A-44F1-B044-48411EA4F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8EE5433-7B78-4432-965F-8790C3F42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53241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F7AAA96-ECD9-48EA-B942-1172BB519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1" y="822325"/>
            <a:ext cx="5149596" cy="484622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B8669AE-0AAC-BB7A-429D-E6F26B1F6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220" y="1054100"/>
            <a:ext cx="4615180" cy="37360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80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System Architecture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8BD5A8-902E-46F3-9C9F-F939987C5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5756954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800B863-FA71-4FFB-9F30-56E95B0D3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974AC77-F93C-4C47-8BA3-991BBA2EF1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170C1A4-4B9C-47A6-981D-0D71C5685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7" name="Picture 16" descr="A diagram of a service&#10;&#10;AI-generated content may be incorrect.">
            <a:extLst>
              <a:ext uri="{FF2B5EF4-FFF2-40B4-BE49-F238E27FC236}">
                <a16:creationId xmlns:a16="http://schemas.microsoft.com/office/drawing/2014/main" id="{23E39584-F0D7-CB70-171F-2D786FC6CF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179" y="948036"/>
            <a:ext cx="2505802" cy="420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21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Rectangle 3092">
            <a:extLst>
              <a:ext uri="{FF2B5EF4-FFF2-40B4-BE49-F238E27FC236}">
                <a16:creationId xmlns:a16="http://schemas.microsoft.com/office/drawing/2014/main" id="{CCF043BA-0C52-4068-BCF5-2B2D89BA9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BE2B8-ECC7-3AA7-B367-AA0E4CF75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12" y="484632"/>
            <a:ext cx="3816774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400" dirty="0"/>
              <a:t>Future Scope</a:t>
            </a:r>
          </a:p>
        </p:txBody>
      </p:sp>
      <p:pic>
        <p:nvPicPr>
          <p:cNvPr id="3076" name="Picture 4" descr="6 Work Activities That Are Better Done In Person | Hubble">
            <a:extLst>
              <a:ext uri="{FF2B5EF4-FFF2-40B4-BE49-F238E27FC236}">
                <a16:creationId xmlns:a16="http://schemas.microsoft.com/office/drawing/2014/main" id="{D9A90776-5CC9-E600-346B-CB4528896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24" b="-1"/>
          <a:stretch>
            <a:fillRect/>
          </a:stretch>
        </p:blipFill>
        <p:spPr bwMode="auto">
          <a:xfrm>
            <a:off x="3343" y="10"/>
            <a:ext cx="754892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97A1-F510-0732-06BC-C475F37CE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3611" y="2121408"/>
            <a:ext cx="3816774" cy="4050792"/>
          </a:xfrm>
        </p:spPr>
        <p:txBody>
          <a:bodyPr>
            <a:normAutofit/>
          </a:bodyPr>
          <a:lstStyle/>
          <a:p>
            <a:r>
              <a:rPr lang="en-US" sz="1200" dirty="0"/>
              <a:t>Hiring Logic </a:t>
            </a:r>
            <a:r>
              <a:rPr lang="en-US" sz="1200" dirty="0">
                <a:sym typeface="Wingdings" pitchFamily="2" charset="2"/>
              </a:rPr>
              <a:t> </a:t>
            </a:r>
            <a:r>
              <a:rPr lang="en-US" sz="1200" dirty="0" err="1"/>
              <a:t>Buzy</a:t>
            </a:r>
            <a:r>
              <a:rPr lang="en-US" sz="1200" dirty="0"/>
              <a:t> has perfect integration capabilities for a candidate manager</a:t>
            </a:r>
          </a:p>
          <a:p>
            <a:pPr lvl="1"/>
            <a:r>
              <a:rPr lang="en-US" sz="1200" dirty="0"/>
              <a:t>Hiring can always be a complex, time-consuming, and expensive process for companies who usually cannot afford the cost nor the money away from the business</a:t>
            </a:r>
          </a:p>
          <a:p>
            <a:pPr lvl="1"/>
            <a:r>
              <a:rPr lang="en-US" sz="1200" dirty="0"/>
              <a:t>We can: Connect to the LinkedIn API, provide AI generated summaries of the candidate’s portfolio, likeness to the job, and so forth</a:t>
            </a:r>
          </a:p>
          <a:p>
            <a:r>
              <a:rPr lang="en-US" sz="1200" dirty="0"/>
              <a:t>Company Socials </a:t>
            </a:r>
            <a:r>
              <a:rPr lang="en-US" sz="1200" dirty="0">
                <a:sym typeface="Wingdings" pitchFamily="2" charset="2"/>
              </a:rPr>
              <a:t> Since </a:t>
            </a:r>
            <a:r>
              <a:rPr lang="en-US" sz="1200" dirty="0" err="1">
                <a:sym typeface="Wingdings" pitchFamily="2" charset="2"/>
              </a:rPr>
              <a:t>Buzy</a:t>
            </a:r>
            <a:r>
              <a:rPr lang="en-US" sz="1200" dirty="0">
                <a:sym typeface="Wingdings" pitchFamily="2" charset="2"/>
              </a:rPr>
              <a:t> collects so much data on small business, it is a great platform for small businesses to connect with one another</a:t>
            </a:r>
          </a:p>
          <a:p>
            <a:pPr lvl="1"/>
            <a:r>
              <a:rPr lang="en-US" sz="1200" dirty="0">
                <a:sym typeface="Wingdings" pitchFamily="2" charset="2"/>
              </a:rPr>
              <a:t>Collaborations among small-businesses are rare, but do boost the profits of both companies alike</a:t>
            </a:r>
          </a:p>
          <a:p>
            <a:pPr lvl="1"/>
            <a:r>
              <a:rPr lang="en-US" sz="1200" dirty="0">
                <a:sym typeface="Wingdings" pitchFamily="2" charset="2"/>
              </a:rPr>
              <a:t>Finding companies who share the same values as your own is a difficult and again time- consuming process</a:t>
            </a:r>
          </a:p>
          <a:p>
            <a:pPr lvl="1"/>
            <a:r>
              <a:rPr lang="en-US" sz="1200" dirty="0" err="1">
                <a:sym typeface="Wingdings" pitchFamily="2" charset="2"/>
              </a:rPr>
              <a:t>Buzy</a:t>
            </a:r>
            <a:r>
              <a:rPr lang="en-US" sz="1200" dirty="0">
                <a:sym typeface="Wingdings" pitchFamily="2" charset="2"/>
              </a:rPr>
              <a:t> can make this easier with a matching-like extension of the application</a:t>
            </a:r>
            <a:endParaRPr lang="en-US" sz="1200" dirty="0"/>
          </a:p>
        </p:txBody>
      </p:sp>
      <p:grpSp>
        <p:nvGrpSpPr>
          <p:cNvPr id="3095" name="Group 3094">
            <a:extLst>
              <a:ext uri="{FF2B5EF4-FFF2-40B4-BE49-F238E27FC236}">
                <a16:creationId xmlns:a16="http://schemas.microsoft.com/office/drawing/2014/main" id="{789ACCC8-A635-400E-B9C0-AD9CA5710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3096" name="Oval 3095">
              <a:extLst>
                <a:ext uri="{FF2B5EF4-FFF2-40B4-BE49-F238E27FC236}">
                  <a16:creationId xmlns:a16="http://schemas.microsoft.com/office/drawing/2014/main" id="{CBC21CEB-233C-4B50-8CCA-829AD0428F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097" name="Oval 3096">
              <a:extLst>
                <a:ext uri="{FF2B5EF4-FFF2-40B4-BE49-F238E27FC236}">
                  <a16:creationId xmlns:a16="http://schemas.microsoft.com/office/drawing/2014/main" id="{F3DF2D74-CD63-49A8-A93B-9DA2F5951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2458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200+ Key Takeaway Stock Illustrations ...">
            <a:extLst>
              <a:ext uri="{FF2B5EF4-FFF2-40B4-BE49-F238E27FC236}">
                <a16:creationId xmlns:a16="http://schemas.microsoft.com/office/drawing/2014/main" id="{D5041ED2-9F0E-30FD-F6DE-CD2901F28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60" r="2" b="12216"/>
          <a:stretch>
            <a:fillRect/>
          </a:stretch>
        </p:blipFill>
        <p:spPr bwMode="auto">
          <a:xfrm>
            <a:off x="0" y="3509434"/>
            <a:ext cx="4475150" cy="334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22" name="Rectangle 4121">
            <a:extLst>
              <a:ext uri="{FF2B5EF4-FFF2-40B4-BE49-F238E27FC236}">
                <a16:creationId xmlns:a16="http://schemas.microsoft.com/office/drawing/2014/main" id="{881BB01C-2DAE-48BD-8E81-DAE2E1BC4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0070" y="0"/>
            <a:ext cx="7541930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903F8-8982-ABD0-1DE2-E2D62786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109" y="484632"/>
            <a:ext cx="6730277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800"/>
              <a:t>Key Takeaways</a:t>
            </a:r>
          </a:p>
        </p:txBody>
      </p:sp>
      <p:pic>
        <p:nvPicPr>
          <p:cNvPr id="4100" name="Picture 4" descr="Why Is Coffee Called Java?">
            <a:extLst>
              <a:ext uri="{FF2B5EF4-FFF2-40B4-BE49-F238E27FC236}">
                <a16:creationId xmlns:a16="http://schemas.microsoft.com/office/drawing/2014/main" id="{27EC384D-901A-8B64-57AA-0F468FD52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7" r="11112" b="1"/>
          <a:stretch>
            <a:fillRect/>
          </a:stretch>
        </p:blipFill>
        <p:spPr bwMode="auto">
          <a:xfrm>
            <a:off x="3344" y="10"/>
            <a:ext cx="4475150" cy="334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49C90-C36C-A21F-B8CD-3C46E7BBE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109" y="2121408"/>
            <a:ext cx="6730276" cy="4050792"/>
          </a:xfrm>
        </p:spPr>
        <p:txBody>
          <a:bodyPr>
            <a:normAutofit/>
          </a:bodyPr>
          <a:lstStyle/>
          <a:p>
            <a:r>
              <a:rPr lang="en-US" sz="1800" dirty="0"/>
              <a:t>Jacob </a:t>
            </a:r>
            <a:r>
              <a:rPr lang="en-US" sz="1800" dirty="0">
                <a:sym typeface="Wingdings" pitchFamily="2" charset="2"/>
              </a:rPr>
              <a:t> learning similar information presented in a new manner allows us to learn and realize things we never did before</a:t>
            </a:r>
          </a:p>
          <a:p>
            <a:r>
              <a:rPr lang="en-US" sz="1800" dirty="0">
                <a:sym typeface="Wingdings" pitchFamily="2" charset="2"/>
              </a:rPr>
              <a:t>Kaitlyn  </a:t>
            </a:r>
            <a:r>
              <a:rPr lang="en-US" sz="1800" dirty="0">
                <a:solidFill>
                  <a:srgbClr val="FF0000"/>
                </a:solidFill>
                <a:sym typeface="Wingdings" pitchFamily="2" charset="2"/>
              </a:rPr>
              <a:t>INSERT HERE PLEASE</a:t>
            </a:r>
          </a:p>
          <a:p>
            <a:r>
              <a:rPr lang="en-US" sz="1800" dirty="0">
                <a:sym typeface="Wingdings" pitchFamily="2" charset="2"/>
              </a:rPr>
              <a:t>Lotus  </a:t>
            </a:r>
            <a:r>
              <a:rPr lang="en-US" sz="1800" dirty="0">
                <a:solidFill>
                  <a:srgbClr val="FF0000"/>
                </a:solidFill>
                <a:sym typeface="Wingdings" pitchFamily="2" charset="2"/>
              </a:rPr>
              <a:t>INSERT HERE PLEASE</a:t>
            </a:r>
            <a:endParaRPr lang="en-US" sz="1800" dirty="0">
              <a:solidFill>
                <a:srgbClr val="FF0000"/>
              </a:solidFill>
            </a:endParaRPr>
          </a:p>
        </p:txBody>
      </p:sp>
      <p:grpSp>
        <p:nvGrpSpPr>
          <p:cNvPr id="4119" name="Group 4118">
            <a:extLst>
              <a:ext uri="{FF2B5EF4-FFF2-40B4-BE49-F238E27FC236}">
                <a16:creationId xmlns:a16="http://schemas.microsoft.com/office/drawing/2014/main" id="{AD55FF18-1979-4730-A345-E74E328F0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4120" name="Oval 4119">
              <a:extLst>
                <a:ext uri="{FF2B5EF4-FFF2-40B4-BE49-F238E27FC236}">
                  <a16:creationId xmlns:a16="http://schemas.microsoft.com/office/drawing/2014/main" id="{6F8381C4-0751-4A6E-BFF7-48DF67BFA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4121" name="Oval 4120">
              <a:extLst>
                <a:ext uri="{FF2B5EF4-FFF2-40B4-BE49-F238E27FC236}">
                  <a16:creationId xmlns:a16="http://schemas.microsoft.com/office/drawing/2014/main" id="{F7320C1D-D7A9-4392-B3B6-ACEF193A8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74444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49</TotalTime>
  <Words>462</Words>
  <Application>Microsoft Macintosh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Buzy: Business Management App.</vt:lpstr>
      <vt:lpstr>Buzy: What are we?</vt:lpstr>
      <vt:lpstr>Who are We? </vt:lpstr>
      <vt:lpstr>Tech Stack </vt:lpstr>
      <vt:lpstr>Applied OOD Conecpts</vt:lpstr>
      <vt:lpstr>Design Patterns</vt:lpstr>
      <vt:lpstr>System Architecture</vt:lpstr>
      <vt:lpstr>Future Scope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Lefkowitz</dc:creator>
  <cp:lastModifiedBy>Jacob Lefkowitz</cp:lastModifiedBy>
  <cp:revision>2</cp:revision>
  <dcterms:created xsi:type="dcterms:W3CDTF">2025-12-07T01:16:52Z</dcterms:created>
  <dcterms:modified xsi:type="dcterms:W3CDTF">2025-12-07T02:06:12Z</dcterms:modified>
</cp:coreProperties>
</file>